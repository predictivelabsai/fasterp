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77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400" b="1">
                <a:solidFill>
                  <a:srgbClr val="FFFFFF"/>
                </a:solidFill>
              </a:defRPr>
            </a:pPr>
            <a:r>
              <a:t>FastERP kasutusjuhend</a:t>
            </a:r>
          </a:p>
          <a:p>
            <a:pPr algn="ctr"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Raamatupidamise tööruumi kasutusjuhend</a:t>
            </a:r>
          </a:p>
          <a:p>
            <a:pPr algn="ctr"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Iseseisev sünteetiline näidis</a:t>
            </a:r>
          </a:p>
        </p:txBody>
      </p:sp>
      <p:pic>
        <p:nvPicPr>
          <p:cNvPr id="3" name="Picture 2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6702552" cy="37701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</a:defRPr>
            </a:pPr>
            <a:r>
              <a:t>Tegevuste töölaud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Igapäevane töölaud näitab laekunud müügitulu, nõudeid, laoväärtust ja avatud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tellimusi. Graafikud toovad esile tellimuste olekud, tähtaja ületanud nõuded ja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madala laoseisuga kaubad. Laiema tööala saamiseks saab AI-paneeli sulgeda.</a:t>
            </a:r>
          </a:p>
        </p:txBody>
      </p:sp>
      <p:pic>
        <p:nvPicPr>
          <p:cNvPr id="5" name="Picture 4" descr="0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34440"/>
            <a:ext cx="6080760" cy="3420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800">
                <a:solidFill>
                  <a:srgbClr val="7C7162"/>
                </a:solidFill>
              </a:defRPr>
            </a:pPr>
            <a:r>
              <a:t>FastERP · Sünteetiline raamatupidamise tööruum · 2026-07-28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</a:defRPr>
            </a:pPr>
            <a:r>
              <a:t>Müügitellimused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Ava Selling → Sales Orders, et filtreerida tellimusi oleku järgi või otsida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klienti ja viidet. Iga rida näitab tarneaega, töövoo olekut ja kogusummat.</a:t>
            </a:r>
          </a:p>
        </p:txBody>
      </p:sp>
      <p:pic>
        <p:nvPicPr>
          <p:cNvPr id="5" name="Picture 4" descr="03-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34440"/>
            <a:ext cx="6080760" cy="3420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800">
                <a:solidFill>
                  <a:srgbClr val="7C7162"/>
                </a:solidFill>
              </a:defRPr>
            </a:pPr>
            <a:r>
              <a:t>FastERP · Sünteetiline raamatupidamise tööruum · 2026-07-28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</a:defRPr>
            </a:pPr>
            <a:r>
              <a:t>Tellimusest laekumiseni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Tellimuse detailvaade koondab kliendi, read, summad ja järgmise tegevuse. Liiguta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sobiv tellimus läbi kinnitamise, tarnimise ja arveldamise. Tarnimine muudab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laoseisu ning arveldamine loob tasakaalus raamatupidamiskanded.</a:t>
            </a:r>
          </a:p>
        </p:txBody>
      </p:sp>
      <p:pic>
        <p:nvPicPr>
          <p:cNvPr id="5" name="Picture 4" descr="04-order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34440"/>
            <a:ext cx="6080760" cy="3420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800">
                <a:solidFill>
                  <a:srgbClr val="7C7162"/>
                </a:solidFill>
              </a:defRPr>
            </a:pPr>
            <a:r>
              <a:t>FastERP · Sünteetiline raamatupidamise tööruum · 2026-07-28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</a:defRPr>
            </a:pPr>
            <a:r>
              <a:t>Arved ja nõuded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Vaates Invoices (AR) näed tasumata, osaliselt tasutud, tasutud ja tähtaja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ületanud arveid. Makse kajastamine vähendab ostjate nõudeid ja suurendab raha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kontot.</a:t>
            </a:r>
          </a:p>
        </p:txBody>
      </p:sp>
      <p:pic>
        <p:nvPicPr>
          <p:cNvPr id="5" name="Picture 4" descr="05-invo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34440"/>
            <a:ext cx="6080760" cy="3420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800">
                <a:solidFill>
                  <a:srgbClr val="7C7162"/>
                </a:solidFill>
              </a:defRPr>
            </a:pPr>
            <a:r>
              <a:t>FastERP · Sünteetiline raamatupidamise tööruum · 2026-07-28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</a:defRPr>
            </a:pPr>
            <a:r>
              <a:t>Kaubad ja ladu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Laoregister näitab kaubakoode, rühmi, müügihindu, koguseid, väärtusi ja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juurdetellimise vajadust. Enne nõudluse kinnitamist filtreeri kaubarühma järgi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või otsi kataloogist saadavust.</a:t>
            </a:r>
          </a:p>
        </p:txBody>
      </p:sp>
      <p:pic>
        <p:nvPicPr>
          <p:cNvPr id="5" name="Picture 4" descr="06-ite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34440"/>
            <a:ext cx="6080760" cy="3420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800">
                <a:solidFill>
                  <a:srgbClr val="7C7162"/>
                </a:solidFill>
              </a:defRPr>
            </a:pPr>
            <a:r>
              <a:t>FastERP · Sünteetiline raamatupidamise tööruum · 2026-07-28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</a:defRPr>
            </a:pPr>
            <a:r>
              <a:t>Tarnijad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Tarnijate register võtab kokku piirkonna, ostutellimuste arvu ja kogukulu. Enne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ostutehingu loomist saab siin lisada sünteetilise tarnija.</a:t>
            </a:r>
          </a:p>
        </p:txBody>
      </p:sp>
      <p:pic>
        <p:nvPicPr>
          <p:cNvPr id="5" name="Picture 4" descr="07-supp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34440"/>
            <a:ext cx="6080760" cy="3420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800">
                <a:solidFill>
                  <a:srgbClr val="7C7162"/>
                </a:solidFill>
              </a:defRPr>
            </a:pPr>
            <a:r>
              <a:t>FastERP · Sünteetiline raamatupidamise tööruum · 2026-07-28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</a:defRPr>
            </a:pPr>
            <a:r>
              <a:t>Ostutellimus ja kauba vastuvõtt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Ostutellimus sisaldab tarnijat, tellimusridu ja töövoo olekut. Tellitud kauba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vastuvõtmine suurendab laoseisu ning konteerib varud ostuvõlgade vastu, sidudes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hanke pearaamatuga.</a:t>
            </a:r>
          </a:p>
        </p:txBody>
      </p:sp>
      <p:pic>
        <p:nvPicPr>
          <p:cNvPr id="5" name="Picture 4" descr="08-purchase-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34440"/>
            <a:ext cx="6080760" cy="3420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800">
                <a:solidFill>
                  <a:srgbClr val="7C7162"/>
                </a:solidFill>
              </a:defRPr>
            </a:pPr>
            <a:r>
              <a:t>FastERP · Sünteetiline raamatupidamise tööruum · 2026-07-28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</a:defRPr>
            </a:pPr>
            <a:r>
              <a:t>Raamatupidamise ülevaade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Ava Accounting → Overview, et näha raha, nõudeid, kohustusi ja puhaskasumit.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Vaata kasumiaruande kokkuvõtet, aktiivseid projekte ja viimaseid kandeid või loo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uus kulu või käsikandega päevaraamat.</a:t>
            </a:r>
          </a:p>
        </p:txBody>
      </p:sp>
      <p:pic>
        <p:nvPicPr>
          <p:cNvPr id="5" name="Picture 4" descr="09-accoun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34440"/>
            <a:ext cx="6080760" cy="3420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800">
                <a:solidFill>
                  <a:srgbClr val="7C7162"/>
                </a:solidFill>
              </a:defRPr>
            </a:pPr>
            <a:r>
              <a:t>FastERP · Sünteetiline raamatupidamise tööruum · 2026-07-28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</a:defRPr>
            </a:pPr>
            <a:r>
              <a:t>Kontoplaan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22 kontoga kontoplaan jaotab varad, kohustused, omakapitali, tulud, müüdud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kaupade kulu ja tegevuskulud. Konto valimisel saab selle kandeid pearaamatus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jälgida.</a:t>
            </a:r>
          </a:p>
        </p:txBody>
      </p:sp>
      <p:pic>
        <p:nvPicPr>
          <p:cNvPr id="5" name="Picture 4" descr="10-ac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34440"/>
            <a:ext cx="6080760" cy="3420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800">
                <a:solidFill>
                  <a:srgbClr val="7C7162"/>
                </a:solidFill>
              </a:defRPr>
            </a:pPr>
            <a:r>
              <a:t>FastERP · Sünteetiline raamatupidamise tööruum · 2026-07-28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</a:defRPr>
            </a:pPr>
            <a:r>
              <a:t>Kulu kajastamine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Vali tarnija ja kulukonto ning sisesta netosumma, maksukood ja valuuta.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Äriüksuse ja projekti tunnused kanduvad pearaamatusse ja tasuvusaruandesse.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Märkusesse saab lisada kinnituse või kviitungi konteksti.</a:t>
            </a:r>
          </a:p>
        </p:txBody>
      </p:sp>
      <p:pic>
        <p:nvPicPr>
          <p:cNvPr id="5" name="Picture 4" descr="11-exp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34440"/>
            <a:ext cx="6080760" cy="3420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800">
                <a:solidFill>
                  <a:srgbClr val="7C7162"/>
                </a:solidFill>
              </a:defRPr>
            </a:pPr>
            <a:r>
              <a:t>FastERP · Sünteetiline raamatupidamise tööruum · 2026-07-28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</a:defRPr>
            </a:pPr>
            <a:r>
              <a:t>Päevaraamatukande sisestamine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Sisesta kuupäev ja selgitus ning lisa vähemalt kaks kontorida. Igale reale saab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määrata äriüksuse ja projekti. FastERP lükkab kande tagasi, kui deebet ja kreedit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ei ole võrdsed.</a:t>
            </a:r>
          </a:p>
        </p:txBody>
      </p:sp>
      <p:pic>
        <p:nvPicPr>
          <p:cNvPr id="5" name="Picture 4" descr="12-jou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34440"/>
            <a:ext cx="6080760" cy="3420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800">
                <a:solidFill>
                  <a:srgbClr val="7C7162"/>
                </a:solidFill>
              </a:defRPr>
            </a:pPr>
            <a:r>
              <a:t>FastERP · Sünteetiline raamatupidamise tööruum · 2026-07-28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</a:defRPr>
            </a:pPr>
            <a:r>
              <a:t>Pearaamat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Proovibilanss võtab kokku deebeti, kreediti ja kontode lõppsaldod. Filtreeri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kandeid konto järgi ning kasuta seotud tehingute jälgimiseks ühiseid viiteid,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näiteks INV-7042, EXP-8001 ja JE-9001.</a:t>
            </a:r>
          </a:p>
        </p:txBody>
      </p:sp>
      <p:pic>
        <p:nvPicPr>
          <p:cNvPr id="5" name="Picture 4" descr="13-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34440"/>
            <a:ext cx="6080760" cy="3420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800">
                <a:solidFill>
                  <a:srgbClr val="7C7162"/>
                </a:solidFill>
              </a:defRPr>
            </a:pPr>
            <a:r>
              <a:t>FastERP · Sünteetiline raamatupidamise tööruum · 2026-07-28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</a:defRPr>
            </a:pPr>
            <a:r>
              <a:t>Projektid ja äriüksused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Projektivaade ühendab kliendi, vastutava äriüksuse, oleku, eelarve, tulud, kulud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ja marginaali. Tunnustega kulud ja päevaraamatukanded uuendavad projektikulu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kohe, ilma eraldi pearaamatuta.</a:t>
            </a:r>
          </a:p>
        </p:txBody>
      </p:sp>
      <p:pic>
        <p:nvPicPr>
          <p:cNvPr id="5" name="Picture 4" descr="14-pro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34440"/>
            <a:ext cx="6080760" cy="3420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800">
                <a:solidFill>
                  <a:srgbClr val="7C7162"/>
                </a:solidFill>
              </a:defRPr>
            </a:pPr>
            <a:r>
              <a:t>FastERP · Sünteetiline raamatupidamise tööruum · 2026-07-28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</a:defRPr>
            </a:pPr>
            <a:r>
              <a:t>Finantsaruanded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Valida saab kasumiaruande, bilansi, proovibilansi ja käibemaksu kokkuvõtte vahel.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Aruanded on tekkepõhised, esitatud naelsterlingites ja koostatud ainult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kinnitatud kahekordsetest kannetest.</a:t>
            </a:r>
          </a:p>
        </p:txBody>
      </p:sp>
      <p:pic>
        <p:nvPicPr>
          <p:cNvPr id="5" name="Picture 4" descr="15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34440"/>
            <a:ext cx="6080760" cy="3420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800">
                <a:solidFill>
                  <a:srgbClr val="7C7162"/>
                </a:solidFill>
              </a:defRPr>
            </a:pPr>
            <a:r>
              <a:t>FastERP · Sünteetiline raamatupidamise tööruum · 2026-07-28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</a:defRPr>
            </a:pPr>
            <a:r>
              <a:t>Raamatupidamise seadistus ja manused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Seadistus näitab GBP, EUR, USD ja CAD kursse, maksukoode, äriüksusi ning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sünteetilisi kviitungimanuseid. Kursid ja maksukäsitlus on näitlikud ning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kviitungipildid ei sisalda päris tarnija- ega makseandmeid.</a:t>
            </a:r>
          </a:p>
        </p:txBody>
      </p:sp>
      <p:pic>
        <p:nvPicPr>
          <p:cNvPr id="5" name="Picture 4" descr="16-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34440"/>
            <a:ext cx="6080760" cy="3420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800">
                <a:solidFill>
                  <a:srgbClr val="7C7162"/>
                </a:solidFill>
              </a:defRPr>
            </a:pPr>
            <a:r>
              <a:t>FastERP · Sünteetiline raamatupidamise tööruum · 2026-07-28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</a:defRPr>
            </a:pPr>
            <a:r>
              <a:t>Integratsiooni API ja Swagger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Käivita .venv/bin/uvicorn api_app:app --port 5012 ja ava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http://localhost:5012/docs. FastAPI lugemiseks mõeldud näidisliides kirjeldab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kontosid, arveid, kulusid, projekte, aruandeid ja veebikonksude näiteid. Arve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POST-päring kontrollib eelvaadet, kuid ei tee raamatupidamiskannet.</a:t>
            </a:r>
          </a:p>
        </p:txBody>
      </p:sp>
      <p:pic>
        <p:nvPicPr>
          <p:cNvPr id="5" name="Picture 4" descr="17-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34440"/>
            <a:ext cx="6080760" cy="3420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800">
                <a:solidFill>
                  <a:srgbClr val="7C7162"/>
                </a:solidFill>
              </a:defRPr>
            </a:pPr>
            <a:r>
              <a:t>FastERP · Sünteetiline raamatupidamise tööruum · 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