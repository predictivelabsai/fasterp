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9770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  <a:defRPr sz="3400" b="1">
                <a:solidFill>
                  <a:srgbClr val="FFFFFF"/>
                </a:solidFill>
              </a:defRPr>
            </a:pPr>
            <a:r>
              <a:t>FastERP User Guide</a:t>
            </a:r>
          </a:p>
          <a:p>
            <a:pPr algn="ctr"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Accounting Workspace User Guide</a:t>
            </a:r>
          </a:p>
          <a:p>
            <a:pPr algn="ctr"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Self-contained synthetic demonstration</a:t>
            </a:r>
          </a:p>
        </p:txBody>
      </p:sp>
      <p:pic>
        <p:nvPicPr>
          <p:cNvPr id="3" name="Picture 2" descr="01-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828800"/>
            <a:ext cx="6702552" cy="377018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37160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500" b="1">
                <a:solidFill>
                  <a:srgbClr val="FFFFFF"/>
                </a:solidFill>
              </a:defRPr>
            </a:pPr>
            <a:r>
              <a:t>Operations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4846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7211A"/>
                </a:solidFill>
              </a:defRPr>
            </a:pPr>
            <a:r>
              <a:t>Start at the daily cockpit for paid revenue, receivables, inventory value and</a:t>
            </a:r>
          </a:p>
          <a:p>
            <a:pPr>
              <a:spcAft>
                <a:spcPts val="800"/>
              </a:spcAft>
              <a:defRPr sz="1500">
                <a:solidFill>
                  <a:srgbClr val="27211A"/>
                </a:solidFill>
              </a:defRPr>
            </a:pPr>
            <a:r>
              <a:t>open orders. The charts highlight order status, aging debt and low-stock items.</a:t>
            </a:r>
          </a:p>
          <a:p>
            <a:pPr>
              <a:spcAft>
                <a:spcPts val="800"/>
              </a:spcAft>
              <a:defRPr sz="1500">
                <a:solidFill>
                  <a:srgbClr val="27211A"/>
                </a:solidFill>
              </a:defRPr>
            </a:pPr>
            <a:r>
              <a:t>Collapse the AI rail whenever you need a wider working area.</a:t>
            </a:r>
          </a:p>
        </p:txBody>
      </p:sp>
      <p:pic>
        <p:nvPicPr>
          <p:cNvPr id="5" name="Picture 4" descr="02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1234440"/>
            <a:ext cx="6080760" cy="34204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73952"/>
            <a:ext cx="11247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  <a:defRPr sz="800">
                <a:solidFill>
                  <a:srgbClr val="7C7162"/>
                </a:solidFill>
              </a:defRPr>
            </a:pPr>
            <a:r>
              <a:t>FastERP · Synthetic accounting workspace · 2026-07-28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37160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500" b="1">
                <a:solidFill>
                  <a:srgbClr val="FFFFFF"/>
                </a:solidFill>
              </a:defRPr>
            </a:pPr>
            <a:r>
              <a:t>Sales orders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4846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7211A"/>
                </a:solidFill>
              </a:defRPr>
            </a:pPr>
            <a:r>
              <a:t>Open Selling → Sales Orders to filter the order book by status or search for</a:t>
            </a:r>
          </a:p>
          <a:p>
            <a:pPr>
              <a:spcAft>
                <a:spcPts val="800"/>
              </a:spcAft>
              <a:defRPr sz="1500">
                <a:solidFill>
                  <a:srgbClr val="27211A"/>
                </a:solidFill>
              </a:defRPr>
            </a:pPr>
            <a:r>
              <a:t>a customer or reference. Each row exposes delivery timing, workflow state and</a:t>
            </a:r>
          </a:p>
          <a:p>
            <a:pPr>
              <a:spcAft>
                <a:spcPts val="800"/>
              </a:spcAft>
              <a:defRPr sz="1500">
                <a:solidFill>
                  <a:srgbClr val="27211A"/>
                </a:solidFill>
              </a:defRPr>
            </a:pPr>
            <a:r>
              <a:t>total value.</a:t>
            </a:r>
          </a:p>
        </p:txBody>
      </p:sp>
      <p:pic>
        <p:nvPicPr>
          <p:cNvPr id="5" name="Picture 4" descr="03-ord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1234440"/>
            <a:ext cx="6080760" cy="34204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73952"/>
            <a:ext cx="11247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  <a:defRPr sz="800">
                <a:solidFill>
                  <a:srgbClr val="7C7162"/>
                </a:solidFill>
              </a:defRPr>
            </a:pPr>
            <a:r>
              <a:t>FastERP · Synthetic accounting workspace · 2026-07-28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37160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500" b="1">
                <a:solidFill>
                  <a:srgbClr val="FFFFFF"/>
                </a:solidFill>
              </a:defRPr>
            </a:pPr>
            <a:r>
              <a:t>Order-to-cash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4846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7211A"/>
                </a:solidFill>
              </a:defRPr>
            </a:pPr>
            <a:r>
              <a:t>An order detail page combines customer data, line items, totals and the next</a:t>
            </a:r>
          </a:p>
          <a:p>
            <a:pPr>
              <a:spcAft>
                <a:spcPts val="800"/>
              </a:spcAft>
              <a:defRPr sz="1500">
                <a:solidFill>
                  <a:srgbClr val="27211A"/>
                </a:solidFill>
              </a:defRPr>
            </a:pPr>
            <a:r>
              <a:t>transactional action. Move eligible orders through Confirm, Deliver and Invoice;</a:t>
            </a:r>
          </a:p>
          <a:p>
            <a:pPr>
              <a:spcAft>
                <a:spcPts val="800"/>
              </a:spcAft>
              <a:defRPr sz="1500">
                <a:solidFill>
                  <a:srgbClr val="27211A"/>
                </a:solidFill>
              </a:defRPr>
            </a:pPr>
            <a:r>
              <a:t>delivery adjusts stock and invoicing creates balanced accounting entries.</a:t>
            </a:r>
          </a:p>
        </p:txBody>
      </p:sp>
      <p:pic>
        <p:nvPicPr>
          <p:cNvPr id="5" name="Picture 4" descr="04-order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1234440"/>
            <a:ext cx="6080760" cy="34204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73952"/>
            <a:ext cx="11247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  <a:defRPr sz="800">
                <a:solidFill>
                  <a:srgbClr val="7C7162"/>
                </a:solidFill>
              </a:defRPr>
            </a:pPr>
            <a:r>
              <a:t>FastERP · Synthetic accounting workspace · 2026-07-28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37160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500" b="1">
                <a:solidFill>
                  <a:srgbClr val="FFFFFF"/>
                </a:solidFill>
              </a:defRPr>
            </a:pPr>
            <a:r>
              <a:t>Invoices and receivables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4846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7211A"/>
                </a:solidFill>
              </a:defRPr>
            </a:pPr>
            <a:r>
              <a:t>Use Invoices (AR) to review outstanding, partly paid, paid and overdue</a:t>
            </a:r>
          </a:p>
          <a:p>
            <a:pPr>
              <a:spcAft>
                <a:spcPts val="800"/>
              </a:spcAft>
              <a:defRPr sz="1500">
                <a:solidFill>
                  <a:srgbClr val="27211A"/>
                </a:solidFill>
              </a:defRPr>
            </a:pPr>
            <a:r>
              <a:t>invoices. Record a payment from an order or invoice workflow to clear Accounts</a:t>
            </a:r>
          </a:p>
          <a:p>
            <a:pPr>
              <a:spcAft>
                <a:spcPts val="800"/>
              </a:spcAft>
              <a:defRPr sz="1500">
                <a:solidFill>
                  <a:srgbClr val="27211A"/>
                </a:solidFill>
              </a:defRPr>
            </a:pPr>
            <a:r>
              <a:t>Receivable and increase Cash.</a:t>
            </a:r>
          </a:p>
        </p:txBody>
      </p:sp>
      <p:pic>
        <p:nvPicPr>
          <p:cNvPr id="5" name="Picture 4" descr="05-invo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1234440"/>
            <a:ext cx="6080760" cy="34204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73952"/>
            <a:ext cx="11247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  <a:defRPr sz="800">
                <a:solidFill>
                  <a:srgbClr val="7C7162"/>
                </a:solidFill>
              </a:defRPr>
            </a:pPr>
            <a:r>
              <a:t>FastERP · Synthetic accounting workspace · 2026-07-28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37160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500" b="1">
                <a:solidFill>
                  <a:srgbClr val="FFFFFF"/>
                </a:solidFill>
              </a:defRPr>
            </a:pPr>
            <a:r>
              <a:t>Items and stock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4846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7211A"/>
                </a:solidFill>
              </a:defRPr>
            </a:pPr>
            <a:r>
              <a:t>The stock register shows item codes, groups, selling rates, quantities, values</a:t>
            </a:r>
          </a:p>
          <a:p>
            <a:pPr>
              <a:spcAft>
                <a:spcPts val="800"/>
              </a:spcAft>
              <a:defRPr sz="1500">
                <a:solidFill>
                  <a:srgbClr val="27211A"/>
                </a:solidFill>
              </a:defRPr>
            </a:pPr>
            <a:r>
              <a:t>and reorder status. Filter by item group or search the catalog to investigate</a:t>
            </a:r>
          </a:p>
          <a:p>
            <a:pPr>
              <a:spcAft>
                <a:spcPts val="800"/>
              </a:spcAft>
              <a:defRPr sz="1500">
                <a:solidFill>
                  <a:srgbClr val="27211A"/>
                </a:solidFill>
              </a:defRPr>
            </a:pPr>
            <a:r>
              <a:t>availability before confirming demand.</a:t>
            </a:r>
          </a:p>
        </p:txBody>
      </p:sp>
      <p:pic>
        <p:nvPicPr>
          <p:cNvPr id="5" name="Picture 4" descr="06-ite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1234440"/>
            <a:ext cx="6080760" cy="34204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73952"/>
            <a:ext cx="11247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  <a:defRPr sz="800">
                <a:solidFill>
                  <a:srgbClr val="7C7162"/>
                </a:solidFill>
              </a:defRPr>
            </a:pPr>
            <a:r>
              <a:t>FastERP · Synthetic accounting workspace · 2026-07-28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37160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500" b="1">
                <a:solidFill>
                  <a:srgbClr val="FFFFFF"/>
                </a:solidFill>
              </a:defRPr>
            </a:pPr>
            <a:r>
              <a:t>Suppliers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4846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7211A"/>
                </a:solidFill>
              </a:defRPr>
            </a:pPr>
            <a:r>
              <a:t>The supplier register summarizes territory, purchase-order count and total</a:t>
            </a:r>
          </a:p>
          <a:p>
            <a:pPr>
              <a:spcAft>
                <a:spcPts val="800"/>
              </a:spcAft>
              <a:defRPr sz="1500">
                <a:solidFill>
                  <a:srgbClr val="27211A"/>
                </a:solidFill>
              </a:defRPr>
            </a:pPr>
            <a:r>
              <a:t>spend. Add synthetic suppliers here before creating a purchasing transaction.</a:t>
            </a:r>
          </a:p>
        </p:txBody>
      </p:sp>
      <p:pic>
        <p:nvPicPr>
          <p:cNvPr id="5" name="Picture 4" descr="07-suppli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1234440"/>
            <a:ext cx="6080760" cy="34204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73952"/>
            <a:ext cx="11247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  <a:defRPr sz="800">
                <a:solidFill>
                  <a:srgbClr val="7C7162"/>
                </a:solidFill>
              </a:defRPr>
            </a:pPr>
            <a:r>
              <a:t>FastERP · Synthetic accounting workspace · 2026-07-28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37160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500" b="1">
                <a:solidFill>
                  <a:srgbClr val="FFFFFF"/>
                </a:solidFill>
              </a:defRPr>
            </a:pPr>
            <a:r>
              <a:t>Purchase order and goods receipt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4846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7211A"/>
                </a:solidFill>
              </a:defRPr>
            </a:pPr>
            <a:r>
              <a:t>A purchase order records supplier, line items and workflow status. Receiving an</a:t>
            </a:r>
          </a:p>
          <a:p>
            <a:pPr>
              <a:spcAft>
                <a:spcPts val="800"/>
              </a:spcAft>
              <a:defRPr sz="1500">
                <a:solidFill>
                  <a:srgbClr val="27211A"/>
                </a:solidFill>
              </a:defRPr>
            </a:pPr>
            <a:r>
              <a:t>ordered PO increases stock and posts Inventory against Accounts Payable, linking</a:t>
            </a:r>
          </a:p>
          <a:p>
            <a:pPr>
              <a:spcAft>
                <a:spcPts val="800"/>
              </a:spcAft>
              <a:defRPr sz="1500">
                <a:solidFill>
                  <a:srgbClr val="27211A"/>
                </a:solidFill>
              </a:defRPr>
            </a:pPr>
            <a:r>
              <a:t>procurement to the general ledger.</a:t>
            </a:r>
          </a:p>
        </p:txBody>
      </p:sp>
      <p:pic>
        <p:nvPicPr>
          <p:cNvPr id="5" name="Picture 4" descr="08-purchase-or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1234440"/>
            <a:ext cx="6080760" cy="34204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73952"/>
            <a:ext cx="11247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  <a:defRPr sz="800">
                <a:solidFill>
                  <a:srgbClr val="7C7162"/>
                </a:solidFill>
              </a:defRPr>
            </a:pPr>
            <a:r>
              <a:t>FastERP · Synthetic accounting workspace · 2026-07-28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37160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500" b="1">
                <a:solidFill>
                  <a:srgbClr val="FFFFFF"/>
                </a:solidFill>
              </a:defRPr>
            </a:pPr>
            <a:r>
              <a:t>Accounting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4846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7211A"/>
                </a:solidFill>
              </a:defRPr>
            </a:pPr>
            <a:r>
              <a:t>Open Accounting → Overview for cash, receivables, payables and net income.</a:t>
            </a:r>
          </a:p>
          <a:p>
            <a:pPr>
              <a:spcAft>
                <a:spcPts val="800"/>
              </a:spcAft>
              <a:defRPr sz="1500">
                <a:solidFill>
                  <a:srgbClr val="27211A"/>
                </a:solidFill>
              </a:defRPr>
            </a:pPr>
            <a:r>
              <a:t>Review the Profit &amp; Loss snapshot, active projects and latest postings, or start</a:t>
            </a:r>
          </a:p>
          <a:p>
            <a:pPr>
              <a:spcAft>
                <a:spcPts val="800"/>
              </a:spcAft>
              <a:defRPr sz="1500">
                <a:solidFill>
                  <a:srgbClr val="27211A"/>
                </a:solidFill>
              </a:defRPr>
            </a:pPr>
            <a:r>
              <a:t>a new expense or manual journal.</a:t>
            </a:r>
          </a:p>
        </p:txBody>
      </p:sp>
      <p:pic>
        <p:nvPicPr>
          <p:cNvPr id="5" name="Picture 4" descr="09-accoun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1234440"/>
            <a:ext cx="6080760" cy="34204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73952"/>
            <a:ext cx="11247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  <a:defRPr sz="800">
                <a:solidFill>
                  <a:srgbClr val="7C7162"/>
                </a:solidFill>
              </a:defRPr>
            </a:pPr>
            <a:r>
              <a:t>FastERP · Synthetic accounting workspace · 2026-07-28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37160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500" b="1">
                <a:solidFill>
                  <a:srgbClr val="FFFFFF"/>
                </a:solidFill>
              </a:defRPr>
            </a:pPr>
            <a:r>
              <a:t>Chart of accounts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4846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7211A"/>
                </a:solidFill>
              </a:defRPr>
            </a:pPr>
            <a:r>
              <a:t>The 22-account chart groups assets, liabilities, equity, income, cost of sales</a:t>
            </a:r>
          </a:p>
          <a:p>
            <a:pPr>
              <a:spcAft>
                <a:spcPts val="800"/>
              </a:spcAft>
              <a:defRPr sz="1500">
                <a:solidFill>
                  <a:srgbClr val="27211A"/>
                </a:solidFill>
              </a:defRPr>
            </a:pPr>
            <a:r>
              <a:t>and operating expenses. Select an account to trace its postings in the General</a:t>
            </a:r>
          </a:p>
          <a:p>
            <a:pPr>
              <a:spcAft>
                <a:spcPts val="800"/>
              </a:spcAft>
              <a:defRPr sz="1500">
                <a:solidFill>
                  <a:srgbClr val="27211A"/>
                </a:solidFill>
              </a:defRPr>
            </a:pPr>
            <a:r>
              <a:t>Ledger.</a:t>
            </a:r>
          </a:p>
        </p:txBody>
      </p:sp>
      <p:pic>
        <p:nvPicPr>
          <p:cNvPr id="5" name="Picture 4" descr="10-accou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1234440"/>
            <a:ext cx="6080760" cy="34204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73952"/>
            <a:ext cx="11247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  <a:defRPr sz="800">
                <a:solidFill>
                  <a:srgbClr val="7C7162"/>
                </a:solidFill>
              </a:defRPr>
            </a:pPr>
            <a:r>
              <a:t>FastERP · Synthetic accounting workspace · 2026-07-28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37160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500" b="1">
                <a:solidFill>
                  <a:srgbClr val="FFFFFF"/>
                </a:solidFill>
              </a:defRPr>
            </a:pPr>
            <a:r>
              <a:t>Record an expense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4846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7211A"/>
                </a:solidFill>
              </a:defRPr>
            </a:pPr>
            <a:r>
              <a:t>Choose a supplier and expense category, then enter the net amount, tax code and</a:t>
            </a:r>
          </a:p>
          <a:p>
            <a:pPr>
              <a:spcAft>
                <a:spcPts val="800"/>
              </a:spcAft>
              <a:defRPr sz="1500">
                <a:solidFill>
                  <a:srgbClr val="27211A"/>
                </a:solidFill>
              </a:defRPr>
            </a:pPr>
            <a:r>
              <a:t>currency. Optional business-unit and project dimensions flow to ledger lines and</a:t>
            </a:r>
          </a:p>
          <a:p>
            <a:pPr>
              <a:spcAft>
                <a:spcPts val="800"/>
              </a:spcAft>
              <a:defRPr sz="1500">
                <a:solidFill>
                  <a:srgbClr val="27211A"/>
                </a:solidFill>
              </a:defRPr>
            </a:pPr>
            <a:r>
              <a:t>profitability reporting. A note can retain approval or receipt context.</a:t>
            </a:r>
          </a:p>
        </p:txBody>
      </p:sp>
      <p:pic>
        <p:nvPicPr>
          <p:cNvPr id="5" name="Picture 4" descr="11-expe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1234440"/>
            <a:ext cx="6080760" cy="34204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73952"/>
            <a:ext cx="11247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  <a:defRPr sz="800">
                <a:solidFill>
                  <a:srgbClr val="7C7162"/>
                </a:solidFill>
              </a:defRPr>
            </a:pPr>
            <a:r>
              <a:t>FastERP · Synthetic accounting workspace · 2026-07-28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37160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500" b="1">
                <a:solidFill>
                  <a:srgbClr val="FFFFFF"/>
                </a:solidFill>
              </a:defRPr>
            </a:pPr>
            <a:r>
              <a:t>Post a journal entry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4846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7211A"/>
                </a:solidFill>
              </a:defRPr>
            </a:pPr>
            <a:r>
              <a:t>Enter a date and memo, then add at least two account lines. Each line may carry a</a:t>
            </a:r>
          </a:p>
          <a:p>
            <a:pPr>
              <a:spcAft>
                <a:spcPts val="800"/>
              </a:spcAft>
              <a:defRPr sz="1500">
                <a:solidFill>
                  <a:srgbClr val="27211A"/>
                </a:solidFill>
              </a:defRPr>
            </a:pPr>
            <a:r>
              <a:t>business unit and project. FastERP rejects the journal unless total debits equal</a:t>
            </a:r>
          </a:p>
          <a:p>
            <a:pPr>
              <a:spcAft>
                <a:spcPts val="800"/>
              </a:spcAft>
              <a:defRPr sz="1500">
                <a:solidFill>
                  <a:srgbClr val="27211A"/>
                </a:solidFill>
              </a:defRPr>
            </a:pPr>
            <a:r>
              <a:t>total credits.</a:t>
            </a:r>
          </a:p>
        </p:txBody>
      </p:sp>
      <p:pic>
        <p:nvPicPr>
          <p:cNvPr id="5" name="Picture 4" descr="12-jour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1234440"/>
            <a:ext cx="6080760" cy="34204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73952"/>
            <a:ext cx="11247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  <a:defRPr sz="800">
                <a:solidFill>
                  <a:srgbClr val="7C7162"/>
                </a:solidFill>
              </a:defRPr>
            </a:pPr>
            <a:r>
              <a:t>FastERP · Synthetic accounting workspace · 2026-07-28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37160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500" b="1">
                <a:solidFill>
                  <a:srgbClr val="FFFFFF"/>
                </a:solidFill>
              </a:defRPr>
            </a:pPr>
            <a:r>
              <a:t>General ledger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4846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7211A"/>
                </a:solidFill>
              </a:defRPr>
            </a:pPr>
            <a:r>
              <a:t>The Trial Balance summarizes debits, credits and normal-side balances. Filter</a:t>
            </a:r>
          </a:p>
          <a:p>
            <a:pPr>
              <a:spcAft>
                <a:spcPts val="800"/>
              </a:spcAft>
              <a:defRPr sz="1500">
                <a:solidFill>
                  <a:srgbClr val="27211A"/>
                </a:solidFill>
              </a:defRPr>
            </a:pPr>
            <a:r>
              <a:t>ledger entries by account and use shared references such as INV-7042,</a:t>
            </a:r>
          </a:p>
          <a:p>
            <a:pPr>
              <a:spcAft>
                <a:spcPts val="800"/>
              </a:spcAft>
              <a:defRPr sz="1500">
                <a:solidFill>
                  <a:srgbClr val="27211A"/>
                </a:solidFill>
              </a:defRPr>
            </a:pPr>
            <a:r>
              <a:t>EXP-8001 and JE-9001 to follow linked transactions.</a:t>
            </a:r>
          </a:p>
        </p:txBody>
      </p:sp>
      <p:pic>
        <p:nvPicPr>
          <p:cNvPr id="5" name="Picture 4" descr="13-ledg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1234440"/>
            <a:ext cx="6080760" cy="34204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73952"/>
            <a:ext cx="11247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  <a:defRPr sz="800">
                <a:solidFill>
                  <a:srgbClr val="7C7162"/>
                </a:solidFill>
              </a:defRPr>
            </a:pPr>
            <a:r>
              <a:t>FastERP · Synthetic accounting workspace · 2026-07-28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37160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500" b="1">
                <a:solidFill>
                  <a:srgbClr val="FFFFFF"/>
                </a:solidFill>
              </a:defRPr>
            </a:pPr>
            <a:r>
              <a:t>Projects and business units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4846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7211A"/>
                </a:solidFill>
              </a:defRPr>
            </a:pPr>
            <a:r>
              <a:t>Projects combine customer, owning business unit, status, budget, revenue, costs</a:t>
            </a:r>
          </a:p>
          <a:p>
            <a:pPr>
              <a:spcAft>
                <a:spcPts val="800"/>
              </a:spcAft>
              <a:defRPr sz="1500">
                <a:solidFill>
                  <a:srgbClr val="27211A"/>
                </a:solidFill>
              </a:defRPr>
            </a:pPr>
            <a:r>
              <a:t>and margin. Dimensioned expenses and journals update project costs immediately</a:t>
            </a:r>
          </a:p>
          <a:p>
            <a:pPr>
              <a:spcAft>
                <a:spcPts val="800"/>
              </a:spcAft>
              <a:defRPr sz="1500">
                <a:solidFill>
                  <a:srgbClr val="27211A"/>
                </a:solidFill>
              </a:defRPr>
            </a:pPr>
            <a:r>
              <a:t>without requiring separate ledgers.</a:t>
            </a:r>
          </a:p>
        </p:txBody>
      </p:sp>
      <p:pic>
        <p:nvPicPr>
          <p:cNvPr id="5" name="Picture 4" descr="14-projec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1234440"/>
            <a:ext cx="6080760" cy="34204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73952"/>
            <a:ext cx="11247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  <a:defRPr sz="800">
                <a:solidFill>
                  <a:srgbClr val="7C7162"/>
                </a:solidFill>
              </a:defRPr>
            </a:pPr>
            <a:r>
              <a:t>FastERP · Synthetic accounting workspace · 2026-07-28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37160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500" b="1">
                <a:solidFill>
                  <a:srgbClr val="FFFFFF"/>
                </a:solidFill>
              </a:defRPr>
            </a:pPr>
            <a:r>
              <a:t>Financial reports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4846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7211A"/>
                </a:solidFill>
              </a:defRPr>
            </a:pPr>
            <a:r>
              <a:t>Switch between Profit &amp; Loss, Balance Sheet, Trial Balance and Sales Tax. Reports</a:t>
            </a:r>
          </a:p>
          <a:p>
            <a:pPr>
              <a:spcAft>
                <a:spcPts val="800"/>
              </a:spcAft>
              <a:defRPr sz="1500">
                <a:solidFill>
                  <a:srgbClr val="27211A"/>
                </a:solidFill>
              </a:defRPr>
            </a:pPr>
            <a:r>
              <a:t>are accrual-basis, presented in GBP and derived solely from posted double-entry</a:t>
            </a:r>
          </a:p>
          <a:p>
            <a:pPr>
              <a:spcAft>
                <a:spcPts val="800"/>
              </a:spcAft>
              <a:defRPr sz="1500">
                <a:solidFill>
                  <a:srgbClr val="27211A"/>
                </a:solidFill>
              </a:defRPr>
            </a:pPr>
            <a:r>
              <a:t>transactions.</a:t>
            </a:r>
          </a:p>
        </p:txBody>
      </p:sp>
      <p:pic>
        <p:nvPicPr>
          <p:cNvPr id="5" name="Picture 4" descr="15-repo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1234440"/>
            <a:ext cx="6080760" cy="34204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73952"/>
            <a:ext cx="11247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  <a:defRPr sz="800">
                <a:solidFill>
                  <a:srgbClr val="7C7162"/>
                </a:solidFill>
              </a:defRPr>
            </a:pPr>
            <a:r>
              <a:t>FastERP · Synthetic accounting workspace · 2026-07-28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37160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500" b="1">
                <a:solidFill>
                  <a:srgbClr val="FFFFFF"/>
                </a:solidFill>
              </a:defRPr>
            </a:pPr>
            <a:r>
              <a:t>Accounting setup and attachments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4846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7211A"/>
                </a:solidFill>
              </a:defRPr>
            </a:pPr>
            <a:r>
              <a:t>Setup lists GBP, EUR, USD and CAD rates, tax codes, business units and synthetic</a:t>
            </a:r>
          </a:p>
          <a:p>
            <a:pPr>
              <a:spcAft>
                <a:spcPts val="800"/>
              </a:spcAft>
              <a:defRPr sz="1500">
                <a:solidFill>
                  <a:srgbClr val="27211A"/>
                </a:solidFill>
              </a:defRPr>
            </a:pPr>
            <a:r>
              <a:t>receipt attachments. The rates and tax treatment are illustrative; the receipt</a:t>
            </a:r>
          </a:p>
          <a:p>
            <a:pPr>
              <a:spcAft>
                <a:spcPts val="800"/>
              </a:spcAft>
              <a:defRPr sz="1500">
                <a:solidFill>
                  <a:srgbClr val="27211A"/>
                </a:solidFill>
              </a:defRPr>
            </a:pPr>
            <a:r>
              <a:t>images contain no real supplier or payment information.</a:t>
            </a:r>
          </a:p>
        </p:txBody>
      </p:sp>
      <p:pic>
        <p:nvPicPr>
          <p:cNvPr id="5" name="Picture 4" descr="16-set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1234440"/>
            <a:ext cx="6080760" cy="34204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73952"/>
            <a:ext cx="11247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  <a:defRPr sz="800">
                <a:solidFill>
                  <a:srgbClr val="7C7162"/>
                </a:solidFill>
              </a:defRPr>
            </a:pPr>
            <a:r>
              <a:t>FastERP · Synthetic accounting workspace · 2026-07-28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37160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500" b="1">
                <a:solidFill>
                  <a:srgbClr val="FFFFFF"/>
                </a:solidFill>
              </a:defRPr>
            </a:pPr>
            <a:r>
              <a:t>Integration API and Swagger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4846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7211A"/>
                </a:solidFill>
              </a:defRPr>
            </a:pPr>
            <a:r>
              <a:t>Run .venv/bin/uvicorn api_app:app --port 5012 and open</a:t>
            </a:r>
          </a:p>
          <a:p>
            <a:pPr>
              <a:spcAft>
                <a:spcPts val="800"/>
              </a:spcAft>
              <a:defRPr sz="1500">
                <a:solidFill>
                  <a:srgbClr val="27211A"/>
                </a:solidFill>
              </a:defRPr>
            </a:pPr>
            <a:r>
              <a:t>http://localhost:5012/docs. The read-mostly FastAPI stub documents accounts,</a:t>
            </a:r>
          </a:p>
          <a:p>
            <a:pPr>
              <a:spcAft>
                <a:spcPts val="800"/>
              </a:spcAft>
              <a:defRPr sz="1500">
                <a:solidFill>
                  <a:srgbClr val="27211A"/>
                </a:solidFill>
              </a:defRPr>
            </a:pPr>
            <a:r>
              <a:t>invoices, expenses, projects, reports and webhook examples. Invoice POSTs</a:t>
            </a:r>
          </a:p>
          <a:p>
            <a:pPr>
              <a:spcAft>
                <a:spcPts val="800"/>
              </a:spcAft>
              <a:defRPr sz="1500">
                <a:solidFill>
                  <a:srgbClr val="27211A"/>
                </a:solidFill>
              </a:defRPr>
            </a:pPr>
            <a:r>
              <a:t>validate previews without posting to the books.</a:t>
            </a:r>
          </a:p>
        </p:txBody>
      </p:sp>
      <p:pic>
        <p:nvPicPr>
          <p:cNvPr id="5" name="Picture 4" descr="17-ap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1234440"/>
            <a:ext cx="6080760" cy="34204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73952"/>
            <a:ext cx="11247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  <a:defRPr sz="800">
                <a:solidFill>
                  <a:srgbClr val="7C7162"/>
                </a:solidFill>
              </a:defRPr>
            </a:pPr>
            <a:r>
              <a:t>FastERP · Synthetic accounting workspace · 2026-07-28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