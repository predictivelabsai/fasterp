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222"/>
        </a:solidFill>
        <a:effectLst/>
      </p:bgPr>
    </p:bg>
    <p:spTree>
      <p:nvGrpSpPr>
        <p:cNvPr id="1" name=""/>
        <p:cNvGrpSpPr/>
        <p:nvPr/>
      </p:nvGrpSpPr>
      <p:grpSpPr/>
      <p:sp>
        <p:nvSpPr>
          <p:cNvPr id="2" name="TextBox 1"/>
          <p:cNvSpPr txBox="1"/>
          <p:nvPr/>
        </p:nvSpPr>
        <p:spPr>
          <a:xfrm>
            <a:off x="731520" y="1463040"/>
            <a:ext cx="10698480" cy="2194560"/>
          </a:xfrm>
          <a:prstGeom prst="rect">
            <a:avLst/>
          </a:prstGeom>
          <a:noFill/>
        </p:spPr>
        <p:txBody>
          <a:bodyPr wrap="none">
            <a:spAutoFit/>
          </a:bodyPr>
          <a:lstStyle/>
          <a:p>
            <a:pPr>
              <a:defRPr sz="4200" b="1">
                <a:solidFill>
                  <a:srgbClr val="F5F7FA"/>
                </a:solidFill>
              </a:defRPr>
            </a:pPr>
            <a:r>
              <a:t>FastERP</a:t>
            </a:r>
            <a:br/>
            <a:r>
              <a:t>Platform Guide</a:t>
            </a:r>
          </a:p>
          <a:p>
            <a:pPr>
              <a:defRPr sz="1800">
                <a:solidFill>
                  <a:srgbClr val="F97316"/>
                </a:solidFill>
              </a:defRPr>
            </a:pPr>
            <a:r>
              <a:t>2026-08-19  •  https://erp.fastsme.com</a:t>
            </a:r>
          </a:p>
        </p:txBody>
      </p:sp>
      <p:sp>
        <p:nvSpPr>
          <p:cNvPr id="3" name="TextBox 2"/>
          <p:cNvSpPr txBox="1"/>
          <p:nvPr/>
        </p:nvSpPr>
        <p:spPr>
          <a:xfrm>
            <a:off x="731520" y="4206240"/>
            <a:ext cx="10241280" cy="1188720"/>
          </a:xfrm>
          <a:prstGeom prst="rect">
            <a:avLst/>
          </a:prstGeom>
          <a:noFill/>
        </p:spPr>
        <p:txBody>
          <a:bodyPr wrap="none">
            <a:spAutoFit/>
          </a:bodyPr>
          <a:lstStyle/>
          <a:p>
            <a:pPr>
              <a:defRPr sz="1600">
                <a:solidFill>
                  <a:srgbClr val="B1BCCC"/>
                </a:solidFill>
              </a:defRPr>
            </a:pPr>
            <a:r>
              <a:t>**FastERP** is an open-source **ERP** built with — a server-side, HTMX-driven ERP with behavior informed by public ERP workflows and an independently designed Python/PostgreSQL implementation. It covers **Order-to-Cash, Procure-to-Stock, Inventory and Accounting** with deterministic synthetic data. Python-first, no Jav</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222"/>
        </a:solidFill>
        <a:effectLst/>
      </p:bgPr>
    </p:bg>
    <p:spTree>
      <p:nvGrpSpPr>
        <p:cNvPr id="1" name=""/>
        <p:cNvGrpSpPr/>
        <p:nvPr/>
      </p:nvGrpSpPr>
      <p:grpSpPr/>
      <p:sp>
        <p:nvSpPr>
          <p:cNvPr id="2" name="TextBox 1"/>
          <p:cNvSpPr txBox="1"/>
          <p:nvPr/>
        </p:nvSpPr>
        <p:spPr>
          <a:xfrm>
            <a:off x="548640" y="320040"/>
            <a:ext cx="11064240" cy="594360"/>
          </a:xfrm>
          <a:prstGeom prst="rect">
            <a:avLst/>
          </a:prstGeom>
          <a:noFill/>
        </p:spPr>
        <p:txBody>
          <a:bodyPr wrap="none">
            <a:spAutoFit/>
          </a:bodyPr>
          <a:lstStyle/>
          <a:p>
            <a:pPr>
              <a:defRPr sz="2700" b="1">
                <a:solidFill>
                  <a:srgbClr val="F5F7FA"/>
                </a:solidFill>
              </a:defRPr>
            </a:pPr>
            <a:r>
              <a:t>One operational backbone for the whole business.</a:t>
            </a:r>
          </a:p>
        </p:txBody>
      </p:sp>
      <p:pic>
        <p:nvPicPr>
          <p:cNvPr id="3" name="Picture 2" descr="01-one-operational-backbone-for-the-whole-business.png"/>
          <p:cNvPicPr>
            <a:picLocks noChangeAspect="1"/>
          </p:cNvPicPr>
          <p:nvPr/>
        </p:nvPicPr>
        <p:blipFill>
          <a:blip r:embed="rId2"/>
          <a:stretch>
            <a:fillRect/>
          </a:stretch>
        </p:blipFill>
        <p:spPr>
          <a:xfrm>
            <a:off x="548640" y="1097280"/>
            <a:ext cx="7924799" cy="4953000"/>
          </a:xfrm>
          <a:prstGeom prst="rect">
            <a:avLst/>
          </a:prstGeom>
        </p:spPr>
      </p:pic>
      <p:sp>
        <p:nvSpPr>
          <p:cNvPr id="4" name="TextBox 3"/>
          <p:cNvSpPr txBox="1"/>
          <p:nvPr/>
        </p:nvSpPr>
        <p:spPr>
          <a:xfrm>
            <a:off x="9646920" y="1143000"/>
            <a:ext cx="1965960" cy="5120640"/>
          </a:xfrm>
          <a:prstGeom prst="rect">
            <a:avLst/>
          </a:prstGeom>
          <a:noFill/>
        </p:spPr>
        <p:txBody>
          <a:bodyPr wrap="none">
            <a:spAutoFit/>
          </a:bodyPr>
          <a:lstStyle/>
          <a:p>
            <a:pPr>
              <a:defRPr sz="1200">
                <a:solidFill>
                  <a:srgbClr val="B1BCCC"/>
                </a:solidFill>
              </a:defRPr>
            </a:pPr>
            <a:r>
              <a:t>BUSINESS OPERATIONS One operational backbone for the whole business. Connect sales, purchasing, inventory, invoicing, payments, projects, expenses, and the general ledger. Sign In or Register Explore the open-source suite → Product tour · see the workspace in</a:t>
            </a:r>
          </a:p>
          <a:p>
            <a:pPr>
              <a:defRPr sz="900">
                <a:solidFill>
                  <a:srgbClr val="F97316"/>
                </a:solidFill>
              </a:defRPr>
            </a:pPr>
            <a:r>
              <a:t>https://erp.fastsme.com/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222"/>
        </a:solidFill>
        <a:effectLst/>
      </p:bgPr>
    </p:bg>
    <p:spTree>
      <p:nvGrpSpPr>
        <p:cNvPr id="1" name=""/>
        <p:cNvGrpSpPr/>
        <p:nvPr/>
      </p:nvGrpSpPr>
      <p:grpSpPr/>
      <p:sp>
        <p:nvSpPr>
          <p:cNvPr id="2" name="TextBox 1"/>
          <p:cNvSpPr txBox="1"/>
          <p:nvPr/>
        </p:nvSpPr>
        <p:spPr>
          <a:xfrm>
            <a:off x="548640" y="320040"/>
            <a:ext cx="11064240" cy="594360"/>
          </a:xfrm>
          <a:prstGeom prst="rect">
            <a:avLst/>
          </a:prstGeom>
          <a:noFill/>
        </p:spPr>
        <p:txBody>
          <a:bodyPr wrap="none">
            <a:spAutoFit/>
          </a:bodyPr>
          <a:lstStyle/>
          <a:p>
            <a:pPr>
              <a:defRPr sz="2700" b="1">
                <a:solidFill>
                  <a:srgbClr val="F5F7FA"/>
                </a:solidFill>
              </a:defRPr>
            </a:pPr>
            <a:r>
              <a:t>Build with the FastERP API.</a:t>
            </a:r>
          </a:p>
        </p:txBody>
      </p:sp>
      <p:pic>
        <p:nvPicPr>
          <p:cNvPr id="3" name="Picture 2" descr="02-build-with-the-fasterp-api.png"/>
          <p:cNvPicPr>
            <a:picLocks noChangeAspect="1"/>
          </p:cNvPicPr>
          <p:nvPr/>
        </p:nvPicPr>
        <p:blipFill>
          <a:blip r:embed="rId2"/>
          <a:stretch>
            <a:fillRect/>
          </a:stretch>
        </p:blipFill>
        <p:spPr>
          <a:xfrm>
            <a:off x="548640" y="1097280"/>
            <a:ext cx="7924799" cy="4953000"/>
          </a:xfrm>
          <a:prstGeom prst="rect">
            <a:avLst/>
          </a:prstGeom>
        </p:spPr>
      </p:pic>
      <p:sp>
        <p:nvSpPr>
          <p:cNvPr id="4" name="TextBox 3"/>
          <p:cNvSpPr txBox="1"/>
          <p:nvPr/>
        </p:nvSpPr>
        <p:spPr>
          <a:xfrm>
            <a:off x="9646920" y="1143000"/>
            <a:ext cx="1965960" cy="5120640"/>
          </a:xfrm>
          <a:prstGeom prst="rect">
            <a:avLst/>
          </a:prstGeom>
          <a:noFill/>
        </p:spPr>
        <p:txBody>
          <a:bodyPr wrap="none">
            <a:spAutoFit/>
          </a:bodyPr>
          <a:lstStyle/>
          <a:p>
            <a:pPr>
              <a:defRPr sz="1200">
                <a:solidFill>
                  <a:srgbClr val="B1BCCC"/>
                </a:solidFill>
              </a:defRPr>
            </a:pPr>
            <a:r>
              <a:t>FastERP Developers Back to product DEVELOPER PLATFORM · API V1 Build with the FastERP API. Read the live demo database through a typed, versioned API. Selected integration writes are implemented behind bearer-token authentication. Open Swagger UI Open ReDoc Do</a:t>
            </a:r>
          </a:p>
          <a:p>
            <a:pPr>
              <a:defRPr sz="900">
                <a:solidFill>
                  <a:srgbClr val="F97316"/>
                </a:solidFill>
              </a:defRPr>
            </a:pPr>
            <a:r>
              <a:t>https://erp.fastsme.com/developers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222"/>
        </a:solidFill>
        <a:effectLst/>
      </p:bgPr>
    </p:bg>
    <p:spTree>
      <p:nvGrpSpPr>
        <p:cNvPr id="1" name=""/>
        <p:cNvGrpSpPr/>
        <p:nvPr/>
      </p:nvGrpSpPr>
      <p:grpSpPr/>
      <p:sp>
        <p:nvSpPr>
          <p:cNvPr id="2" name="TextBox 1"/>
          <p:cNvSpPr txBox="1"/>
          <p:nvPr/>
        </p:nvSpPr>
        <p:spPr>
          <a:xfrm>
            <a:off x="548640" y="320040"/>
            <a:ext cx="11064240" cy="594360"/>
          </a:xfrm>
          <a:prstGeom prst="rect">
            <a:avLst/>
          </a:prstGeom>
          <a:noFill/>
        </p:spPr>
        <p:txBody>
          <a:bodyPr wrap="none">
            <a:spAutoFit/>
          </a:bodyPr>
          <a:lstStyle/>
          <a:p>
            <a:pPr>
              <a:defRPr sz="2700" b="1">
                <a:solidFill>
                  <a:srgbClr val="F5F7FA"/>
                </a:solidFill>
              </a:defRPr>
            </a:pPr>
            <a:r>
              <a:t>Sign in</a:t>
            </a:r>
          </a:p>
        </p:txBody>
      </p:sp>
      <p:pic>
        <p:nvPicPr>
          <p:cNvPr id="3" name="Picture 2" descr="03-sign-in.png"/>
          <p:cNvPicPr>
            <a:picLocks noChangeAspect="1"/>
          </p:cNvPicPr>
          <p:nvPr/>
        </p:nvPicPr>
        <p:blipFill>
          <a:blip r:embed="rId2"/>
          <a:stretch>
            <a:fillRect/>
          </a:stretch>
        </p:blipFill>
        <p:spPr>
          <a:xfrm>
            <a:off x="548640" y="1097280"/>
            <a:ext cx="7924799" cy="4953000"/>
          </a:xfrm>
          <a:prstGeom prst="rect">
            <a:avLst/>
          </a:prstGeom>
        </p:spPr>
      </p:pic>
      <p:sp>
        <p:nvSpPr>
          <p:cNvPr id="4" name="TextBox 3"/>
          <p:cNvSpPr txBox="1"/>
          <p:nvPr/>
        </p:nvSpPr>
        <p:spPr>
          <a:xfrm>
            <a:off x="9646920" y="1143000"/>
            <a:ext cx="1965960" cy="5120640"/>
          </a:xfrm>
          <a:prstGeom prst="rect">
            <a:avLst/>
          </a:prstGeom>
          <a:noFill/>
        </p:spPr>
        <p:txBody>
          <a:bodyPr wrap="none">
            <a:spAutoFit/>
          </a:bodyPr>
          <a:lstStyle/>
          <a:p>
            <a:pPr>
              <a:defRPr sz="1200">
                <a:solidFill>
                  <a:srgbClr val="B1BCCC"/>
                </a:solidFill>
              </a:defRPr>
            </a:pPr>
            <a:r>
              <a:t>Sign in with Google Sign in to continue to fastsme.com Email or phone Forgot email? Next Create account Afrikaans azərbaycan bosanski català Čeština Cymraeg Dansk Deutsch eesti English (United Kingdom) English (United States) Español (España) Español (Latinoam</a:t>
            </a:r>
          </a:p>
          <a:p>
            <a:pPr>
              <a:defRPr sz="900">
                <a:solidFill>
                  <a:srgbClr val="F97316"/>
                </a:solidFill>
              </a:defRPr>
            </a:pPr>
            <a:r>
              <a:t>https://accounts.google.com/v3/signin/identifier?opparams=%253F&amp;dsh=S1409831183%3A1787122704460483&amp;access_type=online&amp;client_id=887059023987-2a7spj1m82eivobdbt1itb3cqca6tpt1.apps.googleusercontent.com&amp;o2v=2&amp;prompt=select_account&amp;redirect_uri=https%3A%2F%2Ferp.fastsme.com%2Fauth%2Fgoogle%2Fcallback&amp;response_type=code&amp;scope=openid+email+profile&amp;service=lso&amp;state=Db1FSGt9wBFsnB-aCQImEFfkpCS0_CuL5UKc9LXJ9ug&amp;flowName=GeneralOAuthLite&amp;continue=https%3A%2F%2Faccounts.google.com%2Fsignin%2Foauth%2Flegacy%2Fconsent%3Fauthuser%3Dunknown%26part%3DAJi8hAO6Px0ayy9V7kQIDqunZ_fn7-3G3FtolLDOkj2yVJZzG3H67HT1qemSROrQ_7DKjGIE0HW3UkE1oFNMyra0Jee6_BHYeqohu0eKJYXOOJ5orpfyivU3o_k6-89JR3e-2IggqWitxiT96W9YpNTUMWeijDiuqSr-aeZCkTrVn5T8K9xNYAMmXL_7t_lde2cDvSYTitXmOAUuNPEVJGjcrNhJn-oXy83FPhjLb6FWoXl3HfeCEgwTyC6FRoUZZmD_fS6jkP9TDE4miyuJ8R-RZ8ILYodpaMvNm6zaWBjLsbLH57_HLRjGWl3NK3FDH8gC4EUE5TD-rFijN0keKYcKDMY38l5-odwNfZ0UMZXcIkAmoTKXdP8gM1yupar7ap4BNmjK02W-Ji8YA0UvlGJdRm4F59f_j61N7eVwIk6jrG9T6eq8-n50ebSeqEqvXELoNdV0WgQx6jiDuTBNpcxAfHR60XUicw%26flowName%3DGeneralOAuthFlow%26as%3DS1409831183%253A1787122704460483%26client_id%3D887059023987-2a7spj1m82eivobdbt1itb3cqca6tpt1.apps.googleusercontent.com%23&amp;app_domain=https%3A%2F%2Ferp.fastsme.com&amp;rart=ANgoxcc5JDBMN8htPlMX71zQ4xKZpp5E9IdZXdWvIwJT5IF5AbG3k_DhKtMPTnORtuO_XepuKhQn2lQa5GJVxcEOpLJADevXTLUcW9ydFzBIHJD99U06_M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